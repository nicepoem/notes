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323C"/>
    <a:srgbClr val="485563"/>
    <a:srgbClr val="27C93F"/>
    <a:srgbClr val="FFBD2E"/>
    <a:srgbClr val="FF5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332" y="208"/>
      </p:cViewPr>
      <p:guideLst>
        <p:guide orient="horz" pos="2188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0" y="1859915"/>
            <a:ext cx="12191365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6600" i="1" dirty="0">
                <a:solidFill>
                  <a:srgbClr val="D55FDE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zh-CN" altLang="zh-CN" sz="6600" dirty="0">
                <a:solidFill>
                  <a:srgbClr val="61AFE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lang="zh-CN" altLang="zh-CN" sz="6600" dirty="0">
                <a:solidFill>
                  <a:srgbClr val="BBBBBB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zh-CN" altLang="zh-CN" sz="6600" dirty="0">
                <a:solidFill>
                  <a:srgbClr val="BBBBBB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zh-CN" altLang="zh-CN" sz="6600" dirty="0">
                <a:solidFill>
                  <a:srgbClr val="BBBBBB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zh-CN" altLang="zh-CN" sz="6600" i="1" dirty="0">
                <a:solidFill>
                  <a:srgbClr val="D55FDE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zh-CN" altLang="zh-CN" sz="6600" dirty="0">
                <a:solidFill>
                  <a:srgbClr val="89CA7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"Hello!"</a:t>
            </a:r>
            <a:endParaRPr lang="zh-CN" altLang="zh-CN" sz="6600" dirty="0">
              <a:solidFill>
                <a:srgbClr val="89CA78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353945" y="1263015"/>
            <a:ext cx="1388110" cy="54991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关键字</a:t>
            </a:r>
            <a:endParaRPr lang="zh-CN" altLang="en-US" sz="28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647690" y="1263015"/>
            <a:ext cx="1388110" cy="54991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函数名</a:t>
            </a:r>
            <a:endParaRPr lang="zh-CN" altLang="en-US" sz="28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4131945" y="5623560"/>
            <a:ext cx="1388110" cy="54991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tabLst>
                <a:tab pos="805815" algn="l"/>
              </a:tabLst>
            </a:pPr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关键字</a:t>
            </a:r>
            <a:endParaRPr lang="zh-CN" altLang="en-US" sz="28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8122920" y="5623560"/>
            <a:ext cx="1388110" cy="54991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结果</a:t>
            </a:r>
            <a:endParaRPr lang="zh-CN" altLang="en-US" sz="28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3048049" y="1813122"/>
            <a:ext cx="0" cy="492369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6341598" y="1813121"/>
            <a:ext cx="0" cy="492369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4825902" y="5131370"/>
            <a:ext cx="0" cy="492369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8816974" y="5131369"/>
            <a:ext cx="0" cy="492369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  <p:pic>
        <p:nvPicPr>
          <p:cNvPr id="3" name="图片 2" descr="logo-ligh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1110" y="0"/>
            <a:ext cx="770255" cy="276225"/>
          </a:xfrm>
          <a:prstGeom prst="rect">
            <a:avLst/>
          </a:prstGeom>
        </p:spPr>
      </p:pic>
      <p:pic>
        <p:nvPicPr>
          <p:cNvPr id="4" name="图片 3" descr="i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8320" cy="50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/>
          <p:nvPr/>
        </p:nvGrpSpPr>
        <p:grpSpPr>
          <a:xfrm>
            <a:off x="325120" y="232410"/>
            <a:ext cx="2514600" cy="6263640"/>
            <a:chOff x="512" y="366"/>
            <a:chExt cx="3960" cy="9864"/>
          </a:xfrm>
        </p:grpSpPr>
        <p:sp>
          <p:nvSpPr>
            <p:cNvPr id="62" name="文本框 61"/>
            <p:cNvSpPr txBox="1"/>
            <p:nvPr/>
          </p:nvSpPr>
          <p:spPr>
            <a:xfrm>
              <a:off x="1910" y="9379"/>
              <a:ext cx="1152" cy="62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zh-CN" altLang="en-US" sz="2000">
                  <a:latin typeface="微软雅黑" panose="020B0400000000000000" charset="-122"/>
                  <a:ea typeface="微软雅黑" panose="020B0400000000000000" charset="-122"/>
                </a:rPr>
                <a:t>顺序</a:t>
              </a:r>
              <a:endParaRPr lang="zh-CN" altLang="en-US" sz="2000">
                <a:latin typeface="微软雅黑" panose="020B0400000000000000" charset="-122"/>
                <a:ea typeface="微软雅黑" panose="020B0400000000000000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 rot="0">
              <a:off x="1481" y="876"/>
              <a:ext cx="2010" cy="7916"/>
              <a:chOff x="1645" y="1609"/>
              <a:chExt cx="2010" cy="7916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1645" y="1609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3" name="矩形 2"/>
              <p:cNvSpPr/>
              <p:nvPr/>
            </p:nvSpPr>
            <p:spPr>
              <a:xfrm>
                <a:off x="1645" y="3344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1645" y="5079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645" y="6814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645" y="8549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cxnSp>
            <p:nvCxnSpPr>
              <p:cNvPr id="22" name="直接箭头连接符 21"/>
              <p:cNvCxnSpPr/>
              <p:nvPr/>
            </p:nvCxnSpPr>
            <p:spPr>
              <a:xfrm>
                <a:off x="2650" y="2585"/>
                <a:ext cx="0" cy="759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>
                <a:off x="2650" y="4320"/>
                <a:ext cx="0" cy="759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>
                <a:off x="2650" y="6055"/>
                <a:ext cx="0" cy="759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>
              <a:xfrm>
                <a:off x="2650" y="7790"/>
                <a:ext cx="0" cy="759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65" name="圆角矩形 64"/>
            <p:cNvSpPr/>
            <p:nvPr/>
          </p:nvSpPr>
          <p:spPr>
            <a:xfrm>
              <a:off x="512" y="366"/>
              <a:ext cx="3960" cy="9865"/>
            </a:xfrm>
            <a:prstGeom prst="roundRect">
              <a:avLst>
                <a:gd name="adj" fmla="val 0"/>
              </a:avLst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微软雅黑" panose="020B0400000000000000" charset="-122"/>
                <a:ea typeface="微软雅黑" panose="020B0400000000000000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3204210" y="232410"/>
            <a:ext cx="3943350" cy="6263640"/>
            <a:chOff x="5046" y="366"/>
            <a:chExt cx="6210" cy="9864"/>
          </a:xfrm>
        </p:grpSpPr>
        <p:sp>
          <p:nvSpPr>
            <p:cNvPr id="63" name="文本框 62"/>
            <p:cNvSpPr txBox="1"/>
            <p:nvPr/>
          </p:nvSpPr>
          <p:spPr>
            <a:xfrm>
              <a:off x="7561" y="9379"/>
              <a:ext cx="1151" cy="62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zh-CN" altLang="en-US" sz="2000">
                  <a:latin typeface="微软雅黑" panose="020B0400000000000000" charset="-122"/>
                  <a:ea typeface="微软雅黑" panose="020B0400000000000000" charset="-122"/>
                </a:rPr>
                <a:t>分支</a:t>
              </a:r>
              <a:endParaRPr lang="zh-CN" altLang="en-US" sz="2000">
                <a:latin typeface="微软雅黑" panose="020B0400000000000000" charset="-122"/>
                <a:ea typeface="微软雅黑" panose="020B0400000000000000" charset="-122"/>
              </a:endParaRPr>
            </a:p>
          </p:txBody>
        </p:sp>
        <p:grpSp>
          <p:nvGrpSpPr>
            <p:cNvPr id="58" name="组合 57"/>
            <p:cNvGrpSpPr/>
            <p:nvPr/>
          </p:nvGrpSpPr>
          <p:grpSpPr>
            <a:xfrm rot="0">
              <a:off x="5462" y="876"/>
              <a:ext cx="5423" cy="6181"/>
              <a:chOff x="6187" y="1609"/>
              <a:chExt cx="5423" cy="6181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189" y="1609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9" name="流程图: 决策 8"/>
              <p:cNvSpPr/>
              <p:nvPr/>
            </p:nvSpPr>
            <p:spPr>
              <a:xfrm>
                <a:off x="6187" y="3344"/>
                <a:ext cx="2012" cy="976"/>
              </a:xfrm>
              <a:prstGeom prst="flowChartDecision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6187" y="5079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9598" y="5079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6189" y="6814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cxnSp>
            <p:nvCxnSpPr>
              <p:cNvPr id="26" name="直接箭头连接符 25"/>
              <p:cNvCxnSpPr/>
              <p:nvPr/>
            </p:nvCxnSpPr>
            <p:spPr>
              <a:xfrm>
                <a:off x="7192" y="2585"/>
                <a:ext cx="0" cy="759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/>
              <p:nvPr/>
            </p:nvCxnSpPr>
            <p:spPr>
              <a:xfrm>
                <a:off x="7192" y="4320"/>
                <a:ext cx="0" cy="759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>
                <a:off x="7192" y="6055"/>
                <a:ext cx="0" cy="759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肘形连接符 28"/>
              <p:cNvCxnSpPr/>
              <p:nvPr/>
            </p:nvCxnSpPr>
            <p:spPr>
              <a:xfrm>
                <a:off x="8199" y="3832"/>
                <a:ext cx="2404" cy="1247"/>
              </a:xfrm>
              <a:prstGeom prst="bentConnector2">
                <a:avLst/>
              </a:prstGeom>
              <a:ln>
                <a:tailEnd type="arrow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肘形连接符 29"/>
              <p:cNvCxnSpPr>
                <a:stCxn id="20" idx="2"/>
              </p:cNvCxnSpPr>
              <p:nvPr/>
            </p:nvCxnSpPr>
            <p:spPr>
              <a:xfrm rot="5400000">
                <a:off x="8730" y="4516"/>
                <a:ext cx="335" cy="3412"/>
              </a:xfrm>
              <a:prstGeom prst="bentConnector2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4" name="文本框 43"/>
              <p:cNvSpPr txBox="1"/>
              <p:nvPr/>
            </p:nvSpPr>
            <p:spPr>
              <a:xfrm>
                <a:off x="6730" y="3590"/>
                <a:ext cx="948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条件</a:t>
                </a:r>
                <a:endParaRPr lang="zh-CN" altLang="en-US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6187" y="5079"/>
                <a:ext cx="2012" cy="96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indent="0" algn="ctr" fontAlgn="auto">
                  <a:lnSpc>
                    <a:spcPct val="100000"/>
                  </a:lnSpc>
                  <a:buClrTx/>
                  <a:buSzTx/>
                  <a:buFontTx/>
                </a:pPr>
                <a:r>
                  <a:rPr lang="zh-CN" altLang="en-US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条件成立</a:t>
                </a:r>
                <a:endParaRPr lang="zh-CN" altLang="en-US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  <a:p>
                <a:pPr indent="0" algn="ctr" fontAlgn="auto">
                  <a:lnSpc>
                    <a:spcPct val="100000"/>
                  </a:lnSpc>
                  <a:buClrTx/>
                  <a:buSzTx/>
                  <a:buFontTx/>
                </a:pPr>
                <a:r>
                  <a:rPr lang="zh-CN" altLang="en-US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执行的代码</a:t>
                </a:r>
                <a:endParaRPr lang="zh-CN" altLang="en-US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9598" y="5088"/>
                <a:ext cx="2012" cy="96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indent="0" algn="ctr" fontAlgn="auto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zh-CN" altLang="en-US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条件不成立</a:t>
                </a:r>
                <a:endParaRPr lang="zh-CN" altLang="en-US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  <a:p>
                <a:pPr indent="0" algn="ctr" fontAlgn="auto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zh-CN" altLang="en-US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执行的代码</a:t>
                </a:r>
                <a:endParaRPr lang="zh-CN" altLang="en-US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7192" y="4429"/>
                <a:ext cx="109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True</a:t>
                </a:r>
                <a:endParaRPr lang="en-US" altLang="zh-CN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9509" y="3837"/>
                <a:ext cx="109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False</a:t>
                </a:r>
                <a:endParaRPr lang="en-US" altLang="zh-CN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</p:grpSp>
        <p:sp>
          <p:nvSpPr>
            <p:cNvPr id="66" name="圆角矩形 65"/>
            <p:cNvSpPr/>
            <p:nvPr/>
          </p:nvSpPr>
          <p:spPr>
            <a:xfrm>
              <a:off x="5046" y="366"/>
              <a:ext cx="6211" cy="9865"/>
            </a:xfrm>
            <a:prstGeom prst="roundRect">
              <a:avLst>
                <a:gd name="adj" fmla="val 0"/>
              </a:avLst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微软雅黑" panose="020B0400000000000000" charset="-122"/>
                <a:ea typeface="微软雅黑" panose="020B0400000000000000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7564120" y="232410"/>
            <a:ext cx="4282440" cy="6263640"/>
            <a:chOff x="11912" y="366"/>
            <a:chExt cx="6744" cy="9864"/>
          </a:xfrm>
        </p:grpSpPr>
        <p:sp>
          <p:nvSpPr>
            <p:cNvPr id="64" name="文本框 63"/>
            <p:cNvSpPr txBox="1"/>
            <p:nvPr/>
          </p:nvSpPr>
          <p:spPr>
            <a:xfrm>
              <a:off x="14708" y="9380"/>
              <a:ext cx="1152" cy="62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zh-CN" altLang="en-US" sz="2000">
                  <a:latin typeface="微软雅黑" panose="020B0400000000000000" charset="-122"/>
                  <a:ea typeface="微软雅黑" panose="020B0400000000000000" charset="-122"/>
                </a:rPr>
                <a:t>循环</a:t>
              </a:r>
              <a:endParaRPr lang="zh-CN" altLang="en-US" sz="2000">
                <a:latin typeface="微软雅黑" panose="020B0400000000000000" charset="-122"/>
                <a:ea typeface="微软雅黑" panose="020B0400000000000000" charset="-122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 rot="0">
              <a:off x="12304" y="876"/>
              <a:ext cx="5920" cy="7916"/>
              <a:chOff x="13041" y="1609"/>
              <a:chExt cx="5920" cy="7916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14136" y="1609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32" name="流程图: 决策 31"/>
              <p:cNvSpPr/>
              <p:nvPr/>
            </p:nvSpPr>
            <p:spPr>
              <a:xfrm>
                <a:off x="14134" y="3344"/>
                <a:ext cx="2012" cy="976"/>
              </a:xfrm>
              <a:prstGeom prst="flowChartDecision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6949" y="4912"/>
                <a:ext cx="2010" cy="65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6949" y="6619"/>
                <a:ext cx="2010" cy="65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4134" y="8549"/>
                <a:ext cx="2010" cy="97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cxnSp>
            <p:nvCxnSpPr>
              <p:cNvPr id="36" name="直接箭头连接符 35"/>
              <p:cNvCxnSpPr/>
              <p:nvPr/>
            </p:nvCxnSpPr>
            <p:spPr>
              <a:xfrm>
                <a:off x="15141" y="2585"/>
                <a:ext cx="0" cy="759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肘形连接符 36"/>
              <p:cNvCxnSpPr/>
              <p:nvPr/>
            </p:nvCxnSpPr>
            <p:spPr>
              <a:xfrm rot="5400000" flipV="1">
                <a:off x="14730" y="4729"/>
                <a:ext cx="2628" cy="1809"/>
              </a:xfrm>
              <a:prstGeom prst="bentConnector2">
                <a:avLst/>
              </a:prstGeom>
              <a:ln>
                <a:tailEnd type="arrow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stCxn id="34" idx="0"/>
                <a:endCxn id="33" idx="2"/>
              </p:cNvCxnSpPr>
              <p:nvPr/>
            </p:nvCxnSpPr>
            <p:spPr>
              <a:xfrm flipV="1">
                <a:off x="17954" y="5569"/>
                <a:ext cx="0" cy="105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肘形连接符 38"/>
              <p:cNvCxnSpPr>
                <a:stCxn id="33" idx="0"/>
                <a:endCxn id="32" idx="3"/>
              </p:cNvCxnSpPr>
              <p:nvPr/>
            </p:nvCxnSpPr>
            <p:spPr>
              <a:xfrm rot="16200000" flipV="1">
                <a:off x="16510" y="3468"/>
                <a:ext cx="1080" cy="1808"/>
              </a:xfrm>
              <a:prstGeom prst="bentConnector2">
                <a:avLst/>
              </a:prstGeom>
              <a:ln>
                <a:tailEnd type="arrow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1" name="文本框 50"/>
              <p:cNvSpPr txBox="1"/>
              <p:nvPr/>
            </p:nvSpPr>
            <p:spPr>
              <a:xfrm>
                <a:off x="14667" y="3590"/>
                <a:ext cx="948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条件</a:t>
                </a:r>
                <a:endParaRPr lang="zh-CN" altLang="en-US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6949" y="6619"/>
                <a:ext cx="2012" cy="64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indent="0" algn="ctr" fontAlgn="auto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zh-CN" altLang="en-US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执行代码</a:t>
                </a:r>
                <a:endParaRPr lang="zh-CN" altLang="en-US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16949" y="4921"/>
                <a:ext cx="2012" cy="64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indent="0" algn="ctr" fontAlgn="auto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zh-CN" altLang="en-US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条件代码</a:t>
                </a:r>
                <a:endParaRPr lang="zh-CN" altLang="en-US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141" y="5079"/>
                <a:ext cx="109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True</a:t>
                </a:r>
                <a:endParaRPr lang="en-US" altLang="zh-CN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  <p:cxnSp>
            <p:nvCxnSpPr>
              <p:cNvPr id="55" name="曲线连接符 54"/>
              <p:cNvCxnSpPr>
                <a:stCxn id="32" idx="1"/>
                <a:endCxn id="35" idx="1"/>
              </p:cNvCxnSpPr>
              <p:nvPr/>
            </p:nvCxnSpPr>
            <p:spPr>
              <a:xfrm rot="10800000" flipH="1" flipV="1">
                <a:off x="14134" y="3832"/>
                <a:ext cx="5" cy="5205"/>
              </a:xfrm>
              <a:prstGeom prst="curvedConnector3">
                <a:avLst>
                  <a:gd name="adj1" fmla="val -24300000"/>
                </a:avLst>
              </a:prstGeom>
              <a:ln>
                <a:tailEnd type="arrow" w="med" len="med"/>
              </a:ln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6" name="文本框 55"/>
              <p:cNvSpPr txBox="1"/>
              <p:nvPr/>
            </p:nvSpPr>
            <p:spPr>
              <a:xfrm>
                <a:off x="13041" y="6331"/>
                <a:ext cx="109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tx1"/>
                    </a:solidFill>
                    <a:latin typeface="微软雅黑" panose="020B0400000000000000" charset="-122"/>
                    <a:ea typeface="微软雅黑" panose="020B0400000000000000" charset="-122"/>
                  </a:rPr>
                  <a:t>False</a:t>
                </a:r>
                <a:endParaRPr lang="en-US" altLang="zh-CN" sz="1400">
                  <a:solidFill>
                    <a:schemeClr val="tx1"/>
                  </a:solidFill>
                  <a:latin typeface="微软雅黑" panose="020B0400000000000000" charset="-122"/>
                  <a:ea typeface="微软雅黑" panose="020B0400000000000000" charset="-122"/>
                </a:endParaRPr>
              </a:p>
            </p:txBody>
          </p:sp>
        </p:grpSp>
        <p:sp>
          <p:nvSpPr>
            <p:cNvPr id="67" name="圆角矩形 66"/>
            <p:cNvSpPr/>
            <p:nvPr/>
          </p:nvSpPr>
          <p:spPr>
            <a:xfrm>
              <a:off x="11912" y="366"/>
              <a:ext cx="6745" cy="9865"/>
            </a:xfrm>
            <a:prstGeom prst="roundRect">
              <a:avLst>
                <a:gd name="adj" fmla="val 0"/>
              </a:avLst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微软雅黑" panose="020B0400000000000000" charset="-122"/>
                <a:ea typeface="微软雅黑" panose="020B0400000000000000" charset="-122"/>
              </a:endParaRPr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/>
          <p:cNvSpPr/>
          <p:nvPr/>
        </p:nvSpPr>
        <p:spPr>
          <a:xfrm>
            <a:off x="4131945" y="5623560"/>
            <a:ext cx="1388110" cy="54991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tabLst>
                <a:tab pos="805815" algn="l"/>
              </a:tabLst>
            </a:pPr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关键字</a:t>
            </a:r>
            <a:endParaRPr lang="zh-CN" altLang="en-US" sz="28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8122920" y="5623560"/>
            <a:ext cx="1388110" cy="54991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结果</a:t>
            </a:r>
            <a:endParaRPr lang="zh-CN" altLang="en-US" sz="28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659890" y="1263015"/>
            <a:ext cx="1388110" cy="1041400"/>
            <a:chOff x="3707" y="1989"/>
            <a:chExt cx="2186" cy="1640"/>
          </a:xfrm>
        </p:grpSpPr>
        <p:sp>
          <p:nvSpPr>
            <p:cNvPr id="11" name="矩形: 圆角 10"/>
            <p:cNvSpPr/>
            <p:nvPr/>
          </p:nvSpPr>
          <p:spPr>
            <a:xfrm>
              <a:off x="3707" y="1989"/>
              <a:ext cx="2186" cy="866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关键字</a:t>
              </a:r>
              <a:endPara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4800" y="2855"/>
              <a:ext cx="0" cy="775"/>
            </a:xfrm>
            <a:prstGeom prst="straightConnector1">
              <a:avLst/>
            </a:prstGeom>
            <a:ln w="12700" cap="flat" cmpd="sng" algn="ctr">
              <a:solidFill>
                <a:schemeClr val="accent6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6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4677410" y="1263015"/>
            <a:ext cx="1685290" cy="1042035"/>
            <a:chOff x="8426" y="1989"/>
            <a:chExt cx="2654" cy="1641"/>
          </a:xfrm>
        </p:grpSpPr>
        <p:sp>
          <p:nvSpPr>
            <p:cNvPr id="12" name="矩形: 圆角 11"/>
            <p:cNvSpPr/>
            <p:nvPr/>
          </p:nvSpPr>
          <p:spPr>
            <a:xfrm>
              <a:off x="8426" y="1989"/>
              <a:ext cx="2654" cy="866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判断条件</a:t>
              </a:r>
              <a:endPara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 flipH="1">
              <a:off x="9753" y="2856"/>
              <a:ext cx="0" cy="775"/>
            </a:xfrm>
            <a:prstGeom prst="straightConnector1">
              <a:avLst/>
            </a:prstGeom>
            <a:ln w="12700" cap="flat" cmpd="sng" algn="ctr">
              <a:solidFill>
                <a:schemeClr val="accent6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6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8" name="直接箭头连接符 17"/>
          <p:cNvCxnSpPr/>
          <p:nvPr/>
        </p:nvCxnSpPr>
        <p:spPr>
          <a:xfrm flipV="1">
            <a:off x="4825902" y="5131370"/>
            <a:ext cx="0" cy="492369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8816974" y="5131369"/>
            <a:ext cx="0" cy="492369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0" y="2367598"/>
            <a:ext cx="12200255" cy="2122805"/>
          </a:xfrm>
          <a:prstGeom prst="rect">
            <a:avLst/>
          </a:prstGeom>
        </p:spPr>
        <p:txBody>
          <a:bodyPr wrap="square">
            <a:spAutoFit/>
          </a:bodyPr>
          <a:p>
            <a:pPr marL="1371600" lvl="3" indent="457200"/>
            <a:r>
              <a:rPr lang="en-US" altLang="zh-CN" sz="6600">
                <a:solidFill>
                  <a:srgbClr val="0033B3"/>
                </a:solidFill>
                <a:latin typeface="JetBrains Mono" panose="02000009000000000000"/>
                <a:ea typeface="JetBrains Mono" panose="02000009000000000000"/>
              </a:rPr>
              <a:t>if </a:t>
            </a:r>
            <a:r>
              <a:rPr lang="en-US" altLang="zh-CN" sz="6600">
                <a:solidFill>
                  <a:schemeClr val="tx1"/>
                </a:solidFill>
                <a:latin typeface="JetBrains Mono" panose="02000009000000000000"/>
                <a:ea typeface="JetBrains Mono" panose="02000009000000000000"/>
              </a:rPr>
              <a:t>age &gt;</a:t>
            </a:r>
            <a:r>
              <a:rPr lang="en-US" altLang="zh-CN" sz="6600">
                <a:solidFill>
                  <a:srgbClr val="0033B3"/>
                </a:solidFill>
                <a:latin typeface="JetBrains Mono" panose="02000009000000000000"/>
                <a:ea typeface="JetBrains Mono" panose="02000009000000000000"/>
              </a:rPr>
              <a:t> </a:t>
            </a:r>
            <a:r>
              <a:rPr lang="en-US" altLang="zh-CN" sz="6600">
                <a:solidFill>
                  <a:srgbClr val="1750EB"/>
                </a:solidFill>
                <a:latin typeface="JetBrains Mono" panose="02000009000000000000"/>
                <a:ea typeface="JetBrains Mono" panose="02000009000000000000"/>
              </a:rPr>
              <a:t>18</a:t>
            </a:r>
            <a:endParaRPr lang="en-US" altLang="zh-CN" sz="6600">
              <a:solidFill>
                <a:srgbClr val="1750EB"/>
              </a:solidFill>
              <a:latin typeface="JetBrains Mono" panose="02000009000000000000"/>
              <a:ea typeface="JetBrains Mono" panose="02000009000000000000"/>
            </a:endParaRPr>
          </a:p>
          <a:p>
            <a:pPr marL="3200400" lvl="7" indent="457200"/>
            <a:r>
              <a:rPr lang="en-US" altLang="zh-CN" sz="6600">
                <a:solidFill>
                  <a:srgbClr val="000080"/>
                </a:solidFill>
                <a:latin typeface="JetBrains Mono" panose="02000009000000000000"/>
                <a:ea typeface="JetBrains Mono" panose="02000009000000000000"/>
              </a:rPr>
              <a:t>print</a:t>
            </a:r>
            <a:r>
              <a:rPr lang="en-US" altLang="zh-CN" sz="6600">
                <a:solidFill>
                  <a:schemeClr val="tx1"/>
                </a:solidFill>
                <a:latin typeface="JetBrains Mono" panose="02000009000000000000"/>
                <a:ea typeface="JetBrains Mono" panose="02000009000000000000"/>
              </a:rPr>
              <a:t>(</a:t>
            </a:r>
            <a:r>
              <a:rPr lang="en-US" altLang="zh-CN" sz="6600">
                <a:solidFill>
                  <a:srgbClr val="067D17"/>
                </a:solidFill>
                <a:latin typeface="JetBrains Mono" panose="02000009000000000000"/>
                <a:ea typeface="JetBrains Mono" panose="02000009000000000000"/>
              </a:rPr>
              <a:t>"</a:t>
            </a:r>
            <a:r>
              <a:rPr lang="zh-CN" altLang="en-US" sz="6600">
                <a:solidFill>
                  <a:srgbClr val="067D17"/>
                </a:solidFill>
                <a:latin typeface="Courier New" panose="02070309020205020404"/>
                <a:ea typeface="Courier New" panose="02070309020205020404"/>
              </a:rPr>
              <a:t>可以上网</a:t>
            </a:r>
            <a:r>
              <a:rPr lang="en-US" altLang="zh-CN" sz="6600">
                <a:solidFill>
                  <a:srgbClr val="067D17"/>
                </a:solidFill>
                <a:latin typeface="JetBrains Mono" panose="02000009000000000000"/>
                <a:ea typeface="JetBrains Mono" panose="02000009000000000000"/>
              </a:rPr>
              <a:t>"</a:t>
            </a:r>
            <a:r>
              <a:rPr lang="en-US" altLang="zh-CN" sz="6600">
                <a:solidFill>
                  <a:schemeClr val="tx1"/>
                </a:solidFill>
                <a:latin typeface="JetBrains Mono" panose="02000009000000000000"/>
                <a:ea typeface="JetBrains Mono" panose="02000009000000000000"/>
              </a:rPr>
              <a:t>)</a:t>
            </a:r>
            <a:endParaRPr lang="en-US" altLang="zh-CN" sz="6600">
              <a:solidFill>
                <a:schemeClr val="tx1"/>
              </a:solidFill>
              <a:latin typeface="JetBrains Mono" panose="02000009000000000000"/>
              <a:ea typeface="JetBrains Mono" panose="02000009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0877550" y="6496363"/>
            <a:ext cx="1314450" cy="3616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ts val="2100"/>
              </a:lnSpc>
            </a:pPr>
            <a:r>
              <a:rPr lang="en-US" altLang="zh-CN" b="0" dirty="0">
                <a:solidFill>
                  <a:schemeClr val="bg1">
                    <a:lumMod val="95000"/>
                  </a:schemeClr>
                </a:solidFill>
                <a:effectLst/>
                <a:latin typeface="AliHealth 阿里健康体" panose="020B0504020202020204" pitchFamily="34" charset="-128"/>
                <a:ea typeface="AliHealth 阿里健康体" panose="020B0504020202020204" pitchFamily="34" charset="-128"/>
                <a:cs typeface="AliHealth 阿里健康体" panose="020B0504020202020204" pitchFamily="34" charset="-128"/>
              </a:rPr>
              <a:t>PENX.CN</a:t>
            </a:r>
            <a:endParaRPr lang="en-US" altLang="zh-CN" b="0" dirty="0">
              <a:solidFill>
                <a:schemeClr val="bg1">
                  <a:lumMod val="95000"/>
                </a:schemeClr>
              </a:solidFill>
              <a:effectLst/>
              <a:latin typeface="AliHealth 阿里健康体" panose="020B0504020202020204" pitchFamily="34" charset="-128"/>
              <a:ea typeface="AliHealth 阿里健康体" panose="020B0504020202020204" pitchFamily="34" charset="-128"/>
              <a:cs typeface="AliHealth 阿里健康体" panose="020B050402020202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235</Words>
  <Application>WPS 演示</Application>
  <PresentationFormat>宽屏</PresentationFormat>
  <Paragraphs>77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JetBrains Mono</vt:lpstr>
      <vt:lpstr>华文中宋</vt:lpstr>
      <vt:lpstr>AliHealth 阿里健康体</vt:lpstr>
      <vt:lpstr>微软雅黑</vt:lpstr>
      <vt:lpstr>JetBrains Mono</vt:lpstr>
      <vt:lpstr>Courier New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朝辉温</dc:creator>
  <cp:lastModifiedBy>新一</cp:lastModifiedBy>
  <cp:revision>16</cp:revision>
  <dcterms:created xsi:type="dcterms:W3CDTF">2023-08-09T12:44:00Z</dcterms:created>
  <dcterms:modified xsi:type="dcterms:W3CDTF">2025-07-04T08:40:05Z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F79B373FA9A24316AFA4237E23104CBA_12</vt:lpwstr>
  </property>
</Properties>
</file>